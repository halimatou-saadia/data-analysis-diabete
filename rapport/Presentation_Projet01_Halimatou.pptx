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104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800" b="0" i="0" u="none" strike="noStrike">
                <a:solidFill>
                  <a:srgbClr val="000000"/>
                </a:solidFill>
                <a:latin typeface="Arial"/>
              </a:rPr>
              <a:t>Déséquilibre des classes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A4-4C85-B2F8-BA8F962BC786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A4-4C85-B2F8-BA8F962BC78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A4-4C85-B2F8-BA8F962BC78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A4-4C85-B2F8-BA8F962BC78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Non-diabétiques (65%)</c:v>
                </c:pt>
                <c:pt idx="1">
                  <c:v>Diabétiques (35%)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</c:v>
                </c:pt>
                <c:pt idx="1">
                  <c:v>268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A4-4C85-B2F8-BA8F962BC7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Test Mann-Whitney U — p-values par variable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p-value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E7E-494D-94B3-C17BC3DE86F9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E7E-494D-94B3-C17BC3DE86F9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E7E-494D-94B3-C17BC3DE86F9}"/>
              </c:ext>
            </c:extLst>
          </c:dPt>
          <c:dPt>
            <c:idx val="3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E7E-494D-94B3-C17BC3DE86F9}"/>
              </c:ext>
            </c:extLst>
          </c:dPt>
          <c:dPt>
            <c:idx val="4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E7E-494D-94B3-C17BC3DE86F9}"/>
              </c:ext>
            </c:extLst>
          </c:dPt>
          <c:dPt>
            <c:idx val="5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E7E-494D-94B3-C17BC3DE86F9}"/>
              </c:ext>
            </c:extLst>
          </c:dPt>
          <c:dPt>
            <c:idx val="6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E7E-494D-94B3-C17BC3DE86F9}"/>
              </c:ext>
            </c:extLst>
          </c:dPt>
          <c:dPt>
            <c:idx val="7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E7E-494D-94B3-C17BC3DE86F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BloodPressure</c:v>
                </c:pt>
                <c:pt idx="1">
                  <c:v>SkinThickness</c:v>
                </c:pt>
                <c:pt idx="2">
                  <c:v>Pregnancies</c:v>
                </c:pt>
                <c:pt idx="3">
                  <c:v>Insulin</c:v>
                </c:pt>
                <c:pt idx="4">
                  <c:v>DiabetesPF</c:v>
                </c:pt>
                <c:pt idx="5">
                  <c:v>Age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0.25159999999999999</c:v>
                </c:pt>
                <c:pt idx="1">
                  <c:v>2.0999999999999999E-3</c:v>
                </c:pt>
                <c:pt idx="2">
                  <c:v>1E-4</c:v>
                </c:pt>
                <c:pt idx="3">
                  <c:v>1E-4</c:v>
                </c:pt>
                <c:pt idx="4">
                  <c:v>1E-4</c:v>
                </c:pt>
                <c:pt idx="5">
                  <c:v>1E-4</c:v>
                </c:pt>
                <c:pt idx="6">
                  <c:v>1E-4</c:v>
                </c:pt>
                <c:pt idx="7">
                  <c:v>1E-4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E7E-494D-94B3-C17BC3DE86F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00000"/>
                </a:solidFill>
                <a:latin typeface="Arial"/>
              </a:rPr>
              <a:t>AVANT SMOTE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Avant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F20-4C4F-A0B1-2B9E1C031A6D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F20-4C4F-A0B1-2B9E1C031A6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F20-4C4F-A0B1-2B9E1C031A6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F20-4C4F-A0B1-2B9E1C031A6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Non-diab. (65%)</c:v>
                </c:pt>
                <c:pt idx="1">
                  <c:v>Diabétiques (35%)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F20-4C4F-A0B1-2B9E1C031A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1F5F9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000000"/>
                </a:solidFill>
                <a:latin typeface="Arial"/>
              </a:rPr>
              <a:t>APRÈS SMOTE ✓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Après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10A-4C52-BE3B-2575CC2562C2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0A-4C52-BE3B-2575CC2562C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10A-4C52-BE3B-2575CC2562C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fr-NE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10A-4C52-BE3B-2575CC2562C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Non-diab. (50%)</c:v>
                </c:pt>
                <c:pt idx="1">
                  <c:v>Diabétiques (50%)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0A-4C52-BE3B-2575CC2562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0FFF4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fr-FR" sz="1100" b="0" i="0" u="none" strike="noStrike">
                <a:solidFill>
                  <a:srgbClr val="000000"/>
                </a:solidFill>
                <a:latin typeface="Arial"/>
              </a:rPr>
              <a:t>Recall · F1-Score · AUC-ROC par modèle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 (%)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88.89</c:v>
                </c:pt>
                <c:pt idx="1">
                  <c:v>83.33</c:v>
                </c:pt>
                <c:pt idx="2">
                  <c:v>81.48</c:v>
                </c:pt>
                <c:pt idx="3">
                  <c:v>79.63</c:v>
                </c:pt>
                <c:pt idx="4">
                  <c:v>72.22</c:v>
                </c:pt>
                <c:pt idx="5">
                  <c:v>55.56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1B-4A0B-B342-9D58025F29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 (%)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75.59</c:v>
                </c:pt>
                <c:pt idx="1">
                  <c:v>81.819999999999993</c:v>
                </c:pt>
                <c:pt idx="2">
                  <c:v>70.400000000000006</c:v>
                </c:pt>
                <c:pt idx="3">
                  <c:v>80.37</c:v>
                </c:pt>
                <c:pt idx="4">
                  <c:v>70.27</c:v>
                </c:pt>
                <c:pt idx="5">
                  <c:v>57.14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E1B-4A0B-B342-9D58025F29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AUC-ROC (%)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KNN+SMOTE</c:v>
                </c:pt>
                <c:pt idx="1">
                  <c:v>RF+SMOTE</c:v>
                </c:pt>
                <c:pt idx="2">
                  <c:v>LR+SMOTE</c:v>
                </c:pt>
                <c:pt idx="3">
                  <c:v>RF</c:v>
                </c:pt>
                <c:pt idx="4">
                  <c:v>KNN</c:v>
                </c:pt>
                <c:pt idx="5">
                  <c:v>LR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85.94</c:v>
                </c:pt>
                <c:pt idx="1">
                  <c:v>94.45</c:v>
                </c:pt>
                <c:pt idx="2">
                  <c:v>82.61</c:v>
                </c:pt>
                <c:pt idx="3">
                  <c:v>94.47</c:v>
                </c:pt>
                <c:pt idx="4">
                  <c:v>85.72</c:v>
                </c:pt>
                <c:pt idx="5">
                  <c:v>82.63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E1B-4A0B-B342-9D58025F29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4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Importance globale SHAP — Random Forest + SMOTE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 SHAP</c:v>
                </c:pt>
              </c:strCache>
            </c:strRef>
          </c:tx>
          <c:spPr>
            <a:solidFill>
              <a:srgbClr val="1F4E7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fr-N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SkinThickness</c:v>
                </c:pt>
                <c:pt idx="1">
                  <c:v>BloodPressure</c:v>
                </c:pt>
                <c:pt idx="2">
                  <c:v>Pregnancies</c:v>
                </c:pt>
                <c:pt idx="3">
                  <c:v>Insulin</c:v>
                </c:pt>
                <c:pt idx="4">
                  <c:v>DiabetesPF</c:v>
                </c:pt>
                <c:pt idx="5">
                  <c:v>Age</c:v>
                </c:pt>
                <c:pt idx="6">
                  <c:v>BMI</c:v>
                </c:pt>
                <c:pt idx="7">
                  <c:v>Glucose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2.8000000000000001E-2</c:v>
                </c:pt>
                <c:pt idx="1">
                  <c:v>3.1E-2</c:v>
                </c:pt>
                <c:pt idx="2">
                  <c:v>5.8000000000000003E-2</c:v>
                </c:pt>
                <c:pt idx="3">
                  <c:v>5.1999999999999998E-2</c:v>
                </c:pt>
                <c:pt idx="4">
                  <c:v>7.0999999999999994E-2</c:v>
                </c:pt>
                <c:pt idx="5">
                  <c:v>8.6999999999999994E-2</c:v>
                </c:pt>
                <c:pt idx="6">
                  <c:v>9.8000000000000004E-2</c:v>
                </c:pt>
                <c:pt idx="7">
                  <c:v>0.182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23-4860-B34D-2CCBCF0BB0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3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C7B7-18D0-ADC4-2FCA-35B4E8A67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6CFFAE-EE8C-F63A-9BD0-11B701E1F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61E298-A74E-9CD7-508D-A34B014FBB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A40DA3-D14A-6527-D8C0-5CB005A08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33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645920"/>
            <a:ext cx="6400800" cy="6400800"/>
          </a:xfrm>
          <a:prstGeom prst="ellipse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286000"/>
            <a:ext cx="5486400" cy="5486400"/>
          </a:xfrm>
          <a:prstGeom prst="ellipse">
            <a:avLst/>
          </a:prstGeom>
          <a:solidFill>
            <a:srgbClr val="162B4A">
              <a:alpha val="70000"/>
            </a:srgbClr>
          </a:solidFill>
          <a:ln w="12700">
            <a:solidFill>
              <a:srgbClr val="162B4A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731520" cy="731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371600" y="713232"/>
            <a:ext cx="1463040" cy="2926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NE" dirty="0"/>
          </a:p>
        </p:txBody>
      </p:sp>
      <p:sp>
        <p:nvSpPr>
          <p:cNvPr id="6" name="Text 3"/>
          <p:cNvSpPr/>
          <p:nvPr/>
        </p:nvSpPr>
        <p:spPr>
          <a:xfrm>
            <a:off x="1371600" y="71323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PROJET 01 · IA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02920" y="11155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</a:rPr>
              <a:t>Prédiction du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502920" y="17373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D6E4F0"/>
                </a:solidFill>
              </a:rPr>
              <a:t>Risque Diabétique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029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B8D2"/>
                </a:solidFill>
              </a:rPr>
              <a:t>Analyse clinique  ·  Machine Learning  ·  SHAP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02920" y="2999232"/>
            <a:ext cx="4114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154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C8DF"/>
                </a:solidFill>
              </a:rPr>
              <a:t>Halimatou Saâdia Mahamane Laouali Salissou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B0C8DF"/>
                </a:solidFill>
              </a:rPr>
              <a:t>L2 Intelligence Artificielle  ·  ADU  ·  2025–2026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solidFill>
            <a:srgbClr val="162B4A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  PIMA Indians · 768 patients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Contexte &amp; Problématique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2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594360"/>
            <a:ext cx="3200400" cy="420624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77724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192024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</a:rPr>
              <a:t>500M+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320040" y="29260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</a:rPr>
              <a:t>personnes diabétiques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D6E4F0"/>
                </a:solidFill>
              </a:rPr>
              <a:t>dans le monde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3657600"/>
            <a:ext cx="2194560" cy="0"/>
          </a:xfrm>
          <a:prstGeom prst="line">
            <a:avLst/>
          </a:prstGeom>
          <a:noFill/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004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DB8D2"/>
                </a:solidFill>
              </a:rPr>
              <a:t>OMS 2023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6E4F0"/>
                </a:solidFill>
              </a:rPr>
              <a:t>Coûts humains &amp; économiques considérables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49040" y="59436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49040" y="594360"/>
            <a:ext cx="822960" cy="12344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0" y="94183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09160" y="7955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Dépistage précoce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709160" y="11887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Identifier les patients à risque avant les symptômes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749040" y="201168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749040" y="2011680"/>
            <a:ext cx="822960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2359152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09160" y="22128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Données simples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709160" y="26060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Glycémie, IMC, âge — non invasif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749040" y="3429000"/>
            <a:ext cx="512064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749040" y="3429000"/>
            <a:ext cx="822960" cy="123444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0" y="3776472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09160" y="36301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</a:rPr>
              <a:t>ML à grande échelle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4709160" y="40233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</a:rPr>
              <a:t>Automatiser et généraliser le dépistage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 Dataset — PIMA Indians Diabetes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3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4E79"/>
                </a:solidFill>
              </a:rPr>
              <a:t>768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Patientes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50592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75B6"/>
                </a:solidFill>
              </a:rPr>
              <a:t>8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450592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Variables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26864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26864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</a:rPr>
              <a:t>35%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4626864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Diabétiques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03136" y="594360"/>
            <a:ext cx="192024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03136" y="658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7AE60"/>
                </a:solidFill>
              </a:rPr>
              <a:t>65%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803136" y="1170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Non-diabétiques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274320" y="1691640"/>
          <a:ext cx="32004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Text 15"/>
          <p:cNvSpPr/>
          <p:nvPr/>
        </p:nvSpPr>
        <p:spPr>
          <a:xfrm>
            <a:off x="3749040" y="166420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Variables &amp; défis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749040" y="2011680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22192" y="20116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Glucose</a:t>
            </a:r>
            <a:endParaRPr lang="en-US" sz="100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75688"/>
            <a:ext cx="182880" cy="18288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3749040" y="2414016"/>
            <a:ext cx="4987503" cy="192024"/>
          </a:xfrm>
          <a:prstGeom prst="rect">
            <a:avLst/>
          </a:prstGeom>
          <a:solidFill>
            <a:srgbClr val="E74C3C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822192" y="23500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Insulin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583680" y="23500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⚠ 48.7% manquants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3749040" y="2688336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822192" y="268833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BMI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752344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749040" y="3090672"/>
            <a:ext cx="3031419" cy="192024"/>
          </a:xfrm>
          <a:prstGeom prst="rect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3822192" y="302666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SkinThickness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583680" y="3026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 29.6% manquants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3749040" y="3364992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3822192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4E79"/>
                </a:solidFill>
              </a:rPr>
              <a:t>Age</a:t>
            </a:r>
            <a:endParaRPr lang="en-US" sz="1000" dirty="0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3429000"/>
            <a:ext cx="182880" cy="182880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3749040" y="3767328"/>
            <a:ext cx="471099" cy="192024"/>
          </a:xfrm>
          <a:prstGeom prst="rect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822192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BloodPressure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583680" y="3703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⚠ 4.6% manquants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749040" y="4041648"/>
            <a:ext cx="5120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3822192" y="40416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DiabetesPedigreeFunction</a:t>
            </a:r>
            <a:endParaRPr lang="en-US" sz="100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105656"/>
            <a:ext cx="182880" cy="1828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22192" y="437997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Pregnancies</a:t>
            </a:r>
            <a:endParaRPr lang="en-US" sz="1000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443984"/>
            <a:ext cx="182880" cy="1828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Nettoyage — Traitement des Valeurs Manquantes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4 /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Zéros suspects détectés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9601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Insulin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57400" y="1033272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57400" y="1033272"/>
            <a:ext cx="1959376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960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48.7%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61848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SkinThickness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57400" y="1691640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57400" y="1691640"/>
            <a:ext cx="1190915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16184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67E22"/>
                </a:solidFill>
              </a:rPr>
              <a:t>29.6%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27685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BloodPressure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57400" y="2350008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57400" y="2350008"/>
            <a:ext cx="185075" cy="20116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0" y="22768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</a:rPr>
              <a:t>4.6%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29352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BMI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57400" y="3008376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3008376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93522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1.4%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35935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</a:rPr>
              <a:t>Glucose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57400" y="3666744"/>
            <a:ext cx="20116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3666744"/>
            <a:ext cx="73152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359359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0.7%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560320"/>
            <a:ext cx="0" cy="0"/>
          </a:xfrm>
          <a:prstGeom prst="line">
            <a:avLst/>
          </a:prstGeom>
          <a:noFill/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194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4E79"/>
                </a:solidFill>
              </a:rPr>
              <a:t>→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34340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F4E79"/>
                </a:solidFill>
              </a:rPr>
              <a:t>SOLUTION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12080" y="594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Imputation stratifiée par classe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212080" y="960120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960120"/>
            <a:ext cx="640080" cy="7498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960120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94360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0 → NaN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137160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Zéros remplacés par valeurs manquantes réelles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12080" y="1847088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212080" y="1847088"/>
            <a:ext cx="64008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1847088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943600" y="1938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Séparer par Outcome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0" y="22585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Diabétiques vs Non-diabétiques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212080" y="2734056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212080" y="2734056"/>
            <a:ext cx="640080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12080" y="2734056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5943600" y="28254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Médiane par groupe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943600" y="31455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Préserve les différences biologiques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212080" y="3621024"/>
            <a:ext cx="36576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212080" y="3621024"/>
            <a:ext cx="640080" cy="7498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12080" y="3621024"/>
            <a:ext cx="640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5943600" y="37124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✅  0 NaN restant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943600" y="40325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Dataset complet et cohérent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553712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💡  Imputation stratifiée = médiane séparée pour diabétiques (↑) et non-diabétiques (↓)  →  biais évité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Exploration — Variables les Plus Discriminantes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5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987552" y="1316736"/>
            <a:ext cx="0" cy="3182112"/>
          </a:xfrm>
          <a:prstGeom prst="line">
            <a:avLst/>
          </a:prstGeom>
          <a:noFill/>
          <a:ln w="19050">
            <a:solidFill>
              <a:srgbClr val="E74C3C"/>
            </a:solidFill>
            <a:prstDash val="dash"/>
          </a:ln>
        </p:spPr>
      </p:sp>
      <p:sp>
        <p:nvSpPr>
          <p:cNvPr id="7" name="Text 4"/>
          <p:cNvSpPr/>
          <p:nvPr/>
        </p:nvSpPr>
        <p:spPr>
          <a:xfrm>
            <a:off x="1005840" y="777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α = 0.05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852160" y="685800"/>
            <a:ext cx="3017520" cy="1234440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941832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629400" y="9144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7 / 8 significatifs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629400" y="12801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 &lt; 0.05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852160" y="2103120"/>
            <a:ext cx="3017520" cy="1234440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2359152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29400" y="2331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BloodPressure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29400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Non significatif (p=0.25)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852160" y="3520440"/>
            <a:ext cx="3017520" cy="1234440"/>
          </a:xfrm>
          <a:prstGeom prst="rect">
            <a:avLst/>
          </a:prstGeom>
          <a:solidFill>
            <a:srgbClr val="EFF6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0" y="3776472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2940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Glucose N°1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629400" y="4114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Variable la plus discriminante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74320" y="457200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4E79"/>
                </a:solidFill>
              </a:rPr>
              <a:t>Glucose · BMI · Age · DiabetesPedigreeFunction  →  variables retenues comme prédicteurs principaux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Pipeline Machine Learning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6 / 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594360"/>
            <a:ext cx="1554480" cy="155448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80/20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stratify=y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01368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93392" y="594360"/>
            <a:ext cx="1554480" cy="15544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93392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2313432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93392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Standard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Scaler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fit sur train only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566160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58184" y="594360"/>
            <a:ext cx="155448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58184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078224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58184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SMOTE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758184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train seulement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330952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22976" y="594360"/>
            <a:ext cx="1554480" cy="1554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22976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843016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22976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 Modèles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KNN · LR · RF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95744" y="1353312"/>
            <a:ext cx="1828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87768" y="594360"/>
            <a:ext cx="1554480" cy="1554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287768" y="640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7607808" y="1078992"/>
            <a:ext cx="914400" cy="0"/>
          </a:xfrm>
          <a:prstGeom prst="line">
            <a:avLst/>
          </a:prstGeom>
          <a:noFill/>
          <a:ln w="1016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87768" y="11155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Évaluation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87768" y="16093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</a:rPr>
              <a:t>Recall · F1 · AUC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7432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E79"/>
                </a:solidFill>
              </a:rPr>
              <a:t>Impact de SMOTE sur l'équilibre des classes</a:t>
            </a:r>
            <a:endParaRPr lang="en-US" sz="1300" dirty="0"/>
          </a:p>
        </p:txBody>
      </p:sp>
      <p:graphicFrame>
        <p:nvGraphicFramePr>
          <p:cNvPr id="35" name="Chart 0"/>
          <p:cNvGraphicFramePr/>
          <p:nvPr/>
        </p:nvGraphicFramePr>
        <p:xfrm>
          <a:off x="274320" y="2651760"/>
          <a:ext cx="41148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6" name="Chart 1"/>
          <p:cNvGraphicFramePr/>
          <p:nvPr/>
        </p:nvGraphicFramePr>
        <p:xfrm>
          <a:off x="4754880" y="2651760"/>
          <a:ext cx="411480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Résultats — Comparaison des 6 Configurations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7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594360"/>
            <a:ext cx="2880360" cy="3749040"/>
          </a:xfrm>
          <a:prstGeom prst="rect">
            <a:avLst/>
          </a:prstGeom>
          <a:solidFill>
            <a:srgbClr val="EBF3FB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989320" y="594360"/>
            <a:ext cx="64008" cy="3749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740664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44768" y="1600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E79"/>
                </a:solidFill>
              </a:rPr>
              <a:t>Modèle retenu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144768" y="192024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Random Forest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E75B6"/>
                </a:solidFill>
              </a:rPr>
              <a:t>+ SMOTE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6400800" y="2743200"/>
            <a:ext cx="2103120" cy="0"/>
          </a:xfrm>
          <a:prstGeom prst="line">
            <a:avLst/>
          </a:prstGeom>
          <a:noFill/>
          <a:ln w="10160">
            <a:solidFill>
              <a:srgbClr val="2E75B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144768" y="28346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74C3C"/>
                </a:solidFill>
              </a:rPr>
              <a:t>83.33%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516368" y="283464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144768" y="3218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5B6"/>
                </a:solidFill>
              </a:rPr>
              <a:t>81.82%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516368" y="3218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F1-Score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144768" y="36027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7AE60"/>
                </a:solidFill>
              </a:rPr>
              <a:t>94.45%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7516368" y="360273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AUC-ROC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Interprétabilité SHAP — Pourquoi cette prédiction ?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138160" y="48463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8 / 9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566928"/>
          <a:ext cx="50292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373075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1F4E79"/>
                </a:solidFill>
              </a:rPr>
              <a:t>Glucose = variable N°1 confirmée par SHAP, EDA et importance RF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32120" y="5669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4E79"/>
                </a:solidFill>
              </a:rPr>
              <a:t>3 Profils — Prédictions individuelles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532120" y="914400"/>
            <a:ext cx="3337560" cy="1170432"/>
          </a:xfrm>
          <a:prstGeom prst="rect">
            <a:avLst/>
          </a:prstGeom>
          <a:solidFill>
            <a:srgbClr val="FFF5F5"/>
          </a:solidFill>
          <a:ln w="1905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914400"/>
            <a:ext cx="914400" cy="1170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32120" y="1051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88%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5321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6537960" y="102412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Diabétique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détectée 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537960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</a:rPr>
              <a:t>RISQUE ÉLEVÉ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532120" y="2212848"/>
            <a:ext cx="3337560" cy="1170432"/>
          </a:xfrm>
          <a:prstGeom prst="rect">
            <a:avLst/>
          </a:prstGeom>
          <a:solidFill>
            <a:srgbClr val="FFFBF0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32120" y="2212848"/>
            <a:ext cx="914400" cy="11704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32120" y="2350008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46%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32120" y="2944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537960" y="2322576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Diabétique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manquée ✗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37960" y="287121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</a:rPr>
              <a:t>CAS LIMITE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532120" y="3511296"/>
            <a:ext cx="3337560" cy="1170432"/>
          </a:xfrm>
          <a:prstGeom prst="rect">
            <a:avLst/>
          </a:prstGeom>
          <a:solidFill>
            <a:srgbClr val="F0FFF4"/>
          </a:solidFill>
          <a:ln w="1905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32120" y="3511296"/>
            <a:ext cx="914400" cy="11704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32120" y="3648456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15%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5532120" y="4242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risque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537960" y="36210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Patiente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saine ✓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537960" y="41696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</a:rPr>
              <a:t>RISQUE FAIBLE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274320" y="4096512"/>
            <a:ext cx="8595360" cy="71323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60520"/>
            <a:ext cx="502920" cy="5029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05840" y="416052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SHAP  </a:t>
            </a:r>
            <a:r>
              <a:rPr lang="en-US" sz="1000" dirty="0">
                <a:solidFill>
                  <a:srgbClr val="1A1A2E"/>
                </a:solidFill>
              </a:rPr>
              <a:t>décompose chaque prédiction variable par variable. Le cas à 46% illustre la limite du modèle : ces cas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frontières nécessitent impérativement l'expertise d'un médecin. Le modèle est un outil d'aide, pas de diagnostic.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828800"/>
            <a:ext cx="7315200" cy="7315200"/>
          </a:xfrm>
          <a:prstGeom prst="ellipse">
            <a:avLst/>
          </a:prstGeom>
          <a:solidFill>
            <a:srgbClr val="2E75B6">
              <a:alpha val="15000"/>
            </a:srgbClr>
          </a:solidFill>
          <a:ln w="12700">
            <a:solidFill>
              <a:srgbClr val="2E75B6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4572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1005840" cy="1371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2344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N°1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00200" y="1216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Glucose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0020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Variable la plus prédictive (SHAP + EDA + RF)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1051560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051560"/>
            <a:ext cx="100584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123444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983480" y="18288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+26pts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035040" y="12161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Gain Recall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035040" y="1709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SMOTE améliore tous les modèles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624328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624328"/>
            <a:ext cx="1005840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807208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48640" y="34015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94.45%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600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AUC-ROC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00200" y="3282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Random Forest + SMOTE — modèle retenu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892040" y="2624328"/>
            <a:ext cx="4023360" cy="1371600"/>
          </a:xfrm>
          <a:prstGeom prst="rect">
            <a:avLst/>
          </a:prstGeom>
          <a:solidFill>
            <a:srgbClr val="162B4A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892040" y="2624328"/>
            <a:ext cx="1005840" cy="1371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2807208"/>
            <a:ext cx="502920" cy="5029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983480" y="34015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16.7%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03504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Faux Négatifs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6035040" y="32826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DB8D2"/>
                </a:solidFill>
              </a:rPr>
              <a:t>Outil d'aide — jamais de diagnostic seul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457200" y="4315968"/>
            <a:ext cx="82296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Text 24"/>
          <p:cNvSpPr/>
          <p:nvPr/>
        </p:nvSpPr>
        <p:spPr>
          <a:xfrm>
            <a:off x="457200" y="4315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Merci pour votre attention  ·  Questions ?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457200" y="464515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D6E4F0"/>
                </a:solidFill>
              </a:rPr>
              <a:t>Halimatou Saâdia Mahamane Laouali Salissou  ·  L2 IA  ·  ADU 2025–2026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1C78A6-01DE-9AE4-1B50-F5E24381D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95DCA4-1487-02DA-4F20-302ED32B80EC}"/>
              </a:ext>
            </a:extLst>
          </p:cNvPr>
          <p:cNvSpPr/>
          <p:nvPr/>
        </p:nvSpPr>
        <p:spPr>
          <a:xfrm>
            <a:off x="5669280" y="-1645920"/>
            <a:ext cx="6400800" cy="6400800"/>
          </a:xfrm>
          <a:prstGeom prst="ellipse">
            <a:avLst/>
          </a:prstGeom>
          <a:solidFill>
            <a:srgbClr val="2E75B6">
              <a:alpha val="18000"/>
            </a:srgbClr>
          </a:solidFill>
          <a:ln w="12700">
            <a:solidFill>
              <a:srgbClr val="2E75B6">
                <a:alpha val="18000"/>
              </a:srgbClr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82E546C-7895-496F-7CE7-63F14AE02548}"/>
              </a:ext>
            </a:extLst>
          </p:cNvPr>
          <p:cNvSpPr/>
          <p:nvPr/>
        </p:nvSpPr>
        <p:spPr>
          <a:xfrm>
            <a:off x="-2286000" y="2286000"/>
            <a:ext cx="5486400" cy="5486400"/>
          </a:xfrm>
          <a:prstGeom prst="ellipse">
            <a:avLst/>
          </a:prstGeom>
          <a:solidFill>
            <a:srgbClr val="162B4A">
              <a:alpha val="70000"/>
            </a:srgbClr>
          </a:solidFill>
          <a:ln w="12700">
            <a:solidFill>
              <a:srgbClr val="162B4A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92B890F2-950C-65C7-5483-293908D12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731520" cy="73152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4F6478A-2290-D498-111E-3F296C8C8B21}"/>
              </a:ext>
            </a:extLst>
          </p:cNvPr>
          <p:cNvSpPr/>
          <p:nvPr/>
        </p:nvSpPr>
        <p:spPr>
          <a:xfrm>
            <a:off x="502920" y="111556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7491D17-5B63-39BE-EEE0-923C681E2399}"/>
              </a:ext>
            </a:extLst>
          </p:cNvPr>
          <p:cNvSpPr/>
          <p:nvPr/>
        </p:nvSpPr>
        <p:spPr>
          <a:xfrm>
            <a:off x="960120" y="1737360"/>
            <a:ext cx="731520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D6E4F0"/>
                </a:solidFill>
              </a:rPr>
              <a:t>Merci pour </a:t>
            </a:r>
            <a:r>
              <a:rPr lang="en-US" sz="4600" b="1" dirty="0" err="1">
                <a:solidFill>
                  <a:srgbClr val="D6E4F0"/>
                </a:solidFill>
              </a:rPr>
              <a:t>votre</a:t>
            </a:r>
            <a:r>
              <a:rPr lang="en-US" sz="4600" b="1" dirty="0">
                <a:solidFill>
                  <a:srgbClr val="D6E4F0"/>
                </a:solidFill>
              </a:rPr>
              <a:t> attention</a:t>
            </a:r>
            <a:endParaRPr lang="en-US" sz="46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613CC36-5754-3988-E16B-7E59D5B9E91A}"/>
              </a:ext>
            </a:extLst>
          </p:cNvPr>
          <p:cNvSpPr/>
          <p:nvPr/>
        </p:nvSpPr>
        <p:spPr>
          <a:xfrm>
            <a:off x="502920" y="25603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BD8DBBDF-55E9-E932-BA36-8A33DB80EA4E}"/>
              </a:ext>
            </a:extLst>
          </p:cNvPr>
          <p:cNvSpPr/>
          <p:nvPr/>
        </p:nvSpPr>
        <p:spPr>
          <a:xfrm>
            <a:off x="2386584" y="3127248"/>
            <a:ext cx="411480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fr-NE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91B4758-BC56-74D6-6418-D8C8D5894582}"/>
              </a:ext>
            </a:extLst>
          </p:cNvPr>
          <p:cNvSpPr/>
          <p:nvPr/>
        </p:nvSpPr>
        <p:spPr>
          <a:xfrm>
            <a:off x="502920" y="31546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1319FB7-45AE-9EB8-FBCE-23F7089D01CA}"/>
              </a:ext>
            </a:extLst>
          </p:cNvPr>
          <p:cNvSpPr/>
          <p:nvPr/>
        </p:nvSpPr>
        <p:spPr>
          <a:xfrm>
            <a:off x="6217920" y="4480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 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83636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238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535</Words>
  <Application>Microsoft Office PowerPoint</Application>
  <PresentationFormat>Affichage à l'écran (16:9)</PresentationFormat>
  <Paragraphs>172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Prédiction du Risque Diabétique</dc:title>
  <dc:subject>PptxGenJS Presentation</dc:subject>
  <dc:creator>Halimatou Saâdia Mahamane Laouali Salissou</dc:creator>
  <cp:lastModifiedBy>Halimatou Saâdia Mahamane Laouali Salissou</cp:lastModifiedBy>
  <cp:revision>2</cp:revision>
  <dcterms:created xsi:type="dcterms:W3CDTF">2026-06-05T09:20:57Z</dcterms:created>
  <dcterms:modified xsi:type="dcterms:W3CDTF">2026-06-05T13:38:13Z</dcterms:modified>
</cp:coreProperties>
</file>